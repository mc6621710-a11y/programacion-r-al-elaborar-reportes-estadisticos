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</p:sldIdLst>
  <p:sldSz cx="9144000" cy="51435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66C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645920"/>
            <a:ext cx="8229600" cy="1371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5400" b="1">
                <a:solidFill>
                  <a:srgbClr val="FFFFFF"/>
                </a:solidFill>
              </a:defRPr>
            </a:pPr>
            <a:r>
              <a:t>Roadmap de Planificación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3200400"/>
            <a:ext cx="8229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>
                <a:solidFill>
                  <a:srgbClr val="C8DCFC"/>
                </a:solidFill>
              </a:defRPr>
            </a:pPr>
            <a:r>
              <a:t>Rossman Pharma: Plan de Recuperación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0A66C2"/>
          </a:solidFill>
          <a:ln>
            <a:solidFill>
              <a:srgbClr val="0A66C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8229600" cy="54864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>
              <a:defRPr sz="3600" b="1">
                <a:solidFill>
                  <a:srgbClr val="FFFFFF"/>
                </a:solidFill>
              </a:defRPr>
            </a:pPr>
            <a:r>
              <a:t>Cronograma del Proyecto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645920"/>
            <a:ext cx="1828800" cy="1371600"/>
          </a:xfrm>
          <a:prstGeom prst="rect">
            <a:avLst/>
          </a:prstGeom>
          <a:solidFill>
            <a:srgbClr val="F44336"/>
          </a:solidFill>
          <a:ln>
            <a:solidFill>
              <a:srgbClr val="F4433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1737360"/>
            <a:ext cx="36576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solidFill>
                  <a:srgbClr val="FFFFFF"/>
                </a:solidFill>
              </a:defRPr>
            </a:pPr>
            <a:r>
              <a:t>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2103120"/>
            <a:ext cx="164592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300" b="1">
                <a:solidFill>
                  <a:srgbClr val="FFFFFF"/>
                </a:solidFill>
              </a:defRPr>
            </a:pPr>
            <a:r>
              <a:t>Diagnóstico</a:t>
            </a:r>
            <a:br/>
            <a:r>
              <a:t>&amp; Datos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2651760"/>
            <a:ext cx="16459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100" i="1">
                <a:solidFill>
                  <a:srgbClr val="FFFFFF"/>
                </a:solidFill>
              </a:defRPr>
            </a:pPr>
            <a:r>
              <a:t>Sem 1-2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468880" y="2240279"/>
            <a:ext cx="13716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FF9800"/>
                </a:solidFill>
              </a:defRPr>
            </a:pPr>
            <a:r>
              <a:t>→</a:t>
            </a:r>
          </a:p>
        </p:txBody>
      </p:sp>
      <p:sp>
        <p:nvSpPr>
          <p:cNvPr id="9" name="Rectangle 8"/>
          <p:cNvSpPr/>
          <p:nvPr/>
        </p:nvSpPr>
        <p:spPr>
          <a:xfrm>
            <a:off x="2560320" y="1645920"/>
            <a:ext cx="1828800" cy="1371600"/>
          </a:xfrm>
          <a:prstGeom prst="rect">
            <a:avLst/>
          </a:prstGeom>
          <a:solidFill>
            <a:srgbClr val="2196F3"/>
          </a:solidFill>
          <a:ln>
            <a:solidFill>
              <a:srgbClr val="2196F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2651760" y="1737360"/>
            <a:ext cx="36576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solidFill>
                  <a:srgbClr val="FFFFFF"/>
                </a:solidFill>
              </a:defRPr>
            </a:pPr>
            <a:r>
              <a:t>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651760" y="2103120"/>
            <a:ext cx="164592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300" b="1">
                <a:solidFill>
                  <a:srgbClr val="FFFFFF"/>
                </a:solidFill>
              </a:defRPr>
            </a:pPr>
            <a:r>
              <a:t>Análisis</a:t>
            </a:r>
            <a:br/>
            <a:r>
              <a:t>&amp; Storytelling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651760" y="2651760"/>
            <a:ext cx="16459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100" i="1">
                <a:solidFill>
                  <a:srgbClr val="FFFFFF"/>
                </a:solidFill>
              </a:defRPr>
            </a:pPr>
            <a:r>
              <a:t>Sem 3-4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72000" y="2240279"/>
            <a:ext cx="13716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FF9800"/>
                </a:solidFill>
              </a:defRPr>
            </a:pPr>
            <a:r>
              <a:t>→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663440" y="1645920"/>
            <a:ext cx="1828800" cy="1371600"/>
          </a:xfrm>
          <a:prstGeom prst="rect">
            <a:avLst/>
          </a:prstGeom>
          <a:solidFill>
            <a:srgbClr val="4CAF50"/>
          </a:solidFill>
          <a:ln>
            <a:solidFill>
              <a:srgbClr val="4CAF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754879" y="1737360"/>
            <a:ext cx="36576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solidFill>
                  <a:srgbClr val="FFFFFF"/>
                </a:solidFill>
              </a:defRPr>
            </a:pPr>
            <a:r>
              <a:t>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754879" y="2103120"/>
            <a:ext cx="164592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300" b="1">
                <a:solidFill>
                  <a:srgbClr val="FFFFFF"/>
                </a:solidFill>
              </a:defRPr>
            </a:pPr>
            <a:r>
              <a:t>Estrategias</a:t>
            </a:r>
            <a:br/>
            <a:r>
              <a:t>&amp; Corrección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754879" y="2651760"/>
            <a:ext cx="16459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100" i="1">
                <a:solidFill>
                  <a:srgbClr val="FFFFFF"/>
                </a:solidFill>
              </a:defRPr>
            </a:pPr>
            <a:r>
              <a:t>Sem 5-7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675120" y="2240279"/>
            <a:ext cx="13716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FF9800"/>
                </a:solidFill>
              </a:defRPr>
            </a:pPr>
            <a:r>
              <a:t>→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766559" y="1645920"/>
            <a:ext cx="1828800" cy="1371600"/>
          </a:xfrm>
          <a:prstGeom prst="rect">
            <a:avLst/>
          </a:prstGeom>
          <a:solidFill>
            <a:srgbClr val="9C27B0"/>
          </a:solidFill>
          <a:ln>
            <a:solidFill>
              <a:srgbClr val="9C27B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857999" y="1737360"/>
            <a:ext cx="36576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solidFill>
                  <a:srgbClr val="FFFFFF"/>
                </a:solidFill>
              </a:defRPr>
            </a:pPr>
            <a:r>
              <a:t>4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857999" y="2103120"/>
            <a:ext cx="164592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300" b="1">
                <a:solidFill>
                  <a:srgbClr val="FFFFFF"/>
                </a:solidFill>
              </a:defRPr>
            </a:pPr>
            <a:r>
              <a:t>Consolidación</a:t>
            </a:r>
            <a:br/>
            <a:r>
              <a:t>&amp; Futuro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857999" y="2651760"/>
            <a:ext cx="16459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100" i="1">
                <a:solidFill>
                  <a:srgbClr val="FFFFFF"/>
                </a:solidFill>
              </a:defRPr>
            </a:pPr>
            <a:r>
              <a:t>Sem 8+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57200" y="3291840"/>
            <a:ext cx="2743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0A66C2"/>
                </a:solidFill>
              </a:defRPr>
            </a:pPr>
            <a:r>
              <a:t>Hitos Clave por Fase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40080" y="3657600"/>
            <a:ext cx="80467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>
                <a:solidFill>
                  <a:srgbClr val="212121"/>
                </a:solidFill>
              </a:defRPr>
            </a:pPr>
            <a:r>
              <a:t>▪ Fase 1: Métricas iniciales de crisis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40080" y="3977639"/>
            <a:ext cx="80467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>
                <a:solidFill>
                  <a:srgbClr val="212121"/>
                </a:solidFill>
              </a:defRPr>
            </a:pPr>
            <a:r>
              <a:t>▪ Fase 2: Reporte 'Historia de la Crisis'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40080" y="4297680"/>
            <a:ext cx="80467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>
                <a:solidFill>
                  <a:srgbClr val="212121"/>
                </a:solidFill>
              </a:defRPr>
            </a:pPr>
            <a:r>
              <a:t>▪ Fase 3: Nuevo modelo de servicio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40080" y="4617720"/>
            <a:ext cx="80467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>
                <a:solidFill>
                  <a:srgbClr val="212121"/>
                </a:solidFill>
              </a:defRPr>
            </a:pPr>
            <a:r>
              <a:t>▪ Fase 4: Confirmación de cambio de tendencia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0A66C2"/>
          </a:solidFill>
          <a:ln>
            <a:solidFill>
              <a:srgbClr val="0A66C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8229600" cy="54864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>
              <a:defRPr sz="3600" b="1">
                <a:solidFill>
                  <a:srgbClr val="FFFFFF"/>
                </a:solidFill>
              </a:defRPr>
            </a:pPr>
            <a:r>
              <a:t>Fase 1: Diagnóstico y Preparación de Datos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09728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4CAF50"/>
                </a:solidFill>
              </a:defRPr>
            </a:pPr>
            <a:r>
              <a:t>📅 Duración: Semanas 1-2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417319"/>
            <a:ext cx="80467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>
                <a:solidFill>
                  <a:srgbClr val="212121"/>
                </a:solidFill>
              </a:defRPr>
            </a:pPr>
            <a:r>
              <a:t>Cierre del Primer Sprint - Métricas iniciales de crisis entregadas a Alan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210312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4CAF50"/>
                </a:solidFill>
              </a:defRPr>
            </a:pPr>
            <a:r>
              <a:t>🎯 Actividades Principales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2423160"/>
            <a:ext cx="7772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200"/>
              </a:spcBef>
              <a:defRPr sz="1300">
                <a:solidFill>
                  <a:srgbClr val="212121"/>
                </a:solidFill>
              </a:defRPr>
            </a:pPr>
            <a:r>
              <a:t>• Definición de plazos de entrega y KPIs críticos (Ventas, Clientes, Incidencias)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2743200"/>
            <a:ext cx="7772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200"/>
              </a:spcBef>
              <a:defRPr sz="1300">
                <a:solidFill>
                  <a:srgbClr val="212121"/>
                </a:solidFill>
              </a:defRPr>
            </a:pPr>
            <a:r>
              <a:t>• Importación de la base de datos histórica por parte de Nathalie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3063240"/>
            <a:ext cx="7772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200"/>
              </a:spcBef>
              <a:defRPr sz="1300">
                <a:solidFill>
                  <a:srgbClr val="212121"/>
                </a:solidFill>
              </a:defRPr>
            </a:pPr>
            <a:r>
              <a:t>• Configuración del entorno de R y análisis exploratorio de datos (EDA)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3383280"/>
            <a:ext cx="7772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200"/>
              </a:spcBef>
              <a:defRPr sz="1300">
                <a:solidFill>
                  <a:srgbClr val="212121"/>
                </a:solidFill>
              </a:defRPr>
            </a:pPr>
            <a:r>
              <a:t>• Identificación y perfilamiento de problemas de calidad de datos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" y="384048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4CAF50"/>
                </a:solidFill>
              </a:defRPr>
            </a:pPr>
            <a:r>
              <a:t>👥 Responsables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" y="4160520"/>
            <a:ext cx="80467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>
                <a:solidFill>
                  <a:srgbClr val="212121"/>
                </a:solidFill>
              </a:defRPr>
            </a:pPr>
            <a:r>
              <a:t>Ana: Entorno técnico | Nathalie: Datos | Alan: Coordinación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0A66C2"/>
          </a:solidFill>
          <a:ln>
            <a:solidFill>
              <a:srgbClr val="0A66C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8229600" cy="54864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>
              <a:defRPr sz="3600" b="1">
                <a:solidFill>
                  <a:srgbClr val="FFFFFF"/>
                </a:solidFill>
              </a:defRPr>
            </a:pPr>
            <a:r>
              <a:t>Fase 2: Análisis Profundo y Storytelling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09728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4CAF50"/>
                </a:solidFill>
              </a:defRPr>
            </a:pPr>
            <a:r>
              <a:t>📅 Duración: Semanas 3-4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417319"/>
            <a:ext cx="80467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>
                <a:solidFill>
                  <a:srgbClr val="212121"/>
                </a:solidFill>
              </a:defRPr>
            </a:pPr>
            <a:r>
              <a:t>Entrega del reporte "Historia de la Crisis"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210312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4CAF50"/>
                </a:solidFill>
              </a:defRPr>
            </a:pPr>
            <a:r>
              <a:t>🎯 Actividades Principales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2423160"/>
            <a:ext cx="7772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200"/>
              </a:spcBef>
              <a:defRPr sz="1300">
                <a:solidFill>
                  <a:srgbClr val="212121"/>
                </a:solidFill>
              </a:defRPr>
            </a:pPr>
            <a:r>
              <a:t>• Generación de resúmenes estadísticos enfocados en la caída operativa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2743200"/>
            <a:ext cx="7772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200"/>
              </a:spcBef>
              <a:defRPr sz="1300">
                <a:solidFill>
                  <a:srgbClr val="212121"/>
                </a:solidFill>
              </a:defRPr>
            </a:pPr>
            <a:r>
              <a:t>• Cruce de información con datos del mercado externo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3063240"/>
            <a:ext cx="7772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200"/>
              </a:spcBef>
              <a:defRPr sz="1300">
                <a:solidFill>
                  <a:srgbClr val="212121"/>
                </a:solidFill>
              </a:defRPr>
            </a:pPr>
            <a:r>
              <a:t>• Confirmación de hipótesis: aumento de competencia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3383280"/>
            <a:ext cx="7772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200"/>
              </a:spcBef>
              <a:defRPr sz="1300">
                <a:solidFill>
                  <a:srgbClr val="212121"/>
                </a:solidFill>
              </a:defRPr>
            </a:pPr>
            <a:r>
              <a:t>• Creación de visualizaciones detalladas por mercado (Francia, Inglaterra, España)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" y="384048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4CAF50"/>
                </a:solidFill>
              </a:defRPr>
            </a:pPr>
            <a:r>
              <a:t>📊 Entregables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" y="4160520"/>
            <a:ext cx="80467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>
                <a:solidFill>
                  <a:srgbClr val="212121"/>
                </a:solidFill>
              </a:defRPr>
            </a:pPr>
            <a:r>
              <a:t>Reporte narrativo completo con análisis de impacto segmentado por región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0A66C2"/>
          </a:solidFill>
          <a:ln>
            <a:solidFill>
              <a:srgbClr val="0A66C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8229600" cy="54864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>
              <a:defRPr sz="3600" b="1">
                <a:solidFill>
                  <a:srgbClr val="FFFFFF"/>
                </a:solidFill>
              </a:defRPr>
            </a:pPr>
            <a:r>
              <a:t>Fase 3: Ejecución de Estrategias y Corrección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09728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4CAF50"/>
                </a:solidFill>
              </a:defRPr>
            </a:pPr>
            <a:r>
              <a:t>📅 Duración: Semanas 5-7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417319"/>
            <a:ext cx="80467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>
                <a:solidFill>
                  <a:srgbClr val="212121"/>
                </a:solidFill>
              </a:defRPr>
            </a:pPr>
            <a:r>
              <a:t>Implementación del nuevo modelo de servicio al cliente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210312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4CAF50"/>
                </a:solidFill>
              </a:defRPr>
            </a:pPr>
            <a:r>
              <a:t>🎯 Actividades Principales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2423160"/>
            <a:ext cx="7772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200"/>
              </a:spcBef>
              <a:defRPr sz="1300">
                <a:solidFill>
                  <a:srgbClr val="212121"/>
                </a:solidFill>
              </a:defRPr>
            </a:pPr>
            <a:r>
              <a:t>• Traducción de hallazgos en directrices de negocio (Alan)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2743200"/>
            <a:ext cx="7772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200"/>
              </a:spcBef>
              <a:defRPr sz="1300">
                <a:solidFill>
                  <a:srgbClr val="212121"/>
                </a:solidFill>
              </a:defRPr>
            </a:pPr>
            <a:r>
              <a:t>• Estrategias personalizadas por mercado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3063240"/>
            <a:ext cx="7772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200"/>
              </a:spcBef>
              <a:defRPr sz="1300">
                <a:solidFill>
                  <a:srgbClr val="212121"/>
                </a:solidFill>
              </a:defRPr>
            </a:pPr>
            <a:r>
              <a:t>• Despliegue de mejoras operativas en corporativo y filiales europeas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3383280"/>
            <a:ext cx="7772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200"/>
              </a:spcBef>
              <a:defRPr sz="1300">
                <a:solidFill>
                  <a:srgbClr val="212121"/>
                </a:solidFill>
              </a:defRPr>
            </a:pPr>
            <a:r>
              <a:t>• Programación de scripts automatizados en R para monitoreo en tiempo real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" y="384048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4CAF50"/>
                </a:solidFill>
              </a:defRPr>
            </a:pPr>
            <a:r>
              <a:t>⚡ Impacto Esperado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" y="4160520"/>
            <a:ext cx="80467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>
                <a:solidFill>
                  <a:srgbClr val="212121"/>
                </a:solidFill>
              </a:defRPr>
            </a:pPr>
            <a:r>
              <a:t>Mejora operativa visible en métricas diarias y semanales de desempeño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0A66C2"/>
          </a:solidFill>
          <a:ln>
            <a:solidFill>
              <a:srgbClr val="0A66C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8229600" cy="54864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>
              <a:defRPr sz="3600" b="1">
                <a:solidFill>
                  <a:srgbClr val="FFFFFF"/>
                </a:solidFill>
              </a:defRPr>
            </a:pPr>
            <a:r>
              <a:t>Fase 4: Consolidación y Planeación Futura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09728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4CAF50"/>
                </a:solidFill>
              </a:defRPr>
            </a:pPr>
            <a:r>
              <a:t>📅 Duración: Semanas 8+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417319"/>
            <a:ext cx="80467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>
                <a:solidFill>
                  <a:srgbClr val="212121"/>
                </a:solidFill>
              </a:defRPr>
            </a:pPr>
            <a:r>
              <a:t>Confirmación del cambio de tendencia - Incremento de ventas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210312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4CAF50"/>
                </a:solidFill>
              </a:defRPr>
            </a:pPr>
            <a:r>
              <a:t>🎯 Actividades Principales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2423160"/>
            <a:ext cx="7772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200"/>
              </a:spcBef>
              <a:defRPr sz="1300">
                <a:solidFill>
                  <a:srgbClr val="212121"/>
                </a:solidFill>
              </a:defRPr>
            </a:pPr>
            <a:r>
              <a:t>• Validación de efectividad de estrategias (análisis Antes vs. Después)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2743200"/>
            <a:ext cx="7772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200"/>
              </a:spcBef>
              <a:defRPr sz="1300">
                <a:solidFill>
                  <a:srgbClr val="212121"/>
                </a:solidFill>
              </a:defRPr>
            </a:pPr>
            <a:r>
              <a:t>• Generación de visualizaciones finales demostrando recuperación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3063240"/>
            <a:ext cx="7772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200"/>
              </a:spcBef>
              <a:defRPr sz="1300">
                <a:solidFill>
                  <a:srgbClr val="212121"/>
                </a:solidFill>
              </a:defRPr>
            </a:pPr>
            <a:r>
              <a:t>• Documentación de "Lecciones Aprendidas"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3383280"/>
            <a:ext cx="7772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200"/>
              </a:spcBef>
              <a:defRPr sz="1300">
                <a:solidFill>
                  <a:srgbClr val="212121"/>
                </a:solidFill>
              </a:defRPr>
            </a:pPr>
            <a:r>
              <a:t>• Creación de marco de trabajo respaldado por datos para expansiones futuras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" y="384048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4CAF50"/>
                </a:solidFill>
              </a:defRPr>
            </a:pPr>
            <a:r>
              <a:t>🎁 Entregables Finales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" y="4160520"/>
            <a:ext cx="80467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>
                <a:solidFill>
                  <a:srgbClr val="212121"/>
                </a:solidFill>
              </a:defRPr>
            </a:pPr>
            <a:r>
              <a:t>Documentación estratégica y recomendaciones para futuras expansiones internacionales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4CAF50"/>
          </a:solidFill>
          <a:ln>
            <a:solidFill>
              <a:srgbClr val="4CAF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8229600" cy="54864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>
              <a:defRPr sz="3600" b="1">
                <a:solidFill>
                  <a:srgbClr val="FFFFFF"/>
                </a:solidFill>
              </a:defRPr>
            </a:pPr>
            <a:r>
              <a:t>Indicadores de Éxito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371600"/>
            <a:ext cx="320040" cy="320040"/>
          </a:xfrm>
          <a:prstGeom prst="rect">
            <a:avLst/>
          </a:prstGeom>
          <a:solidFill>
            <a:srgbClr val="F44336"/>
          </a:solidFill>
          <a:ln>
            <a:solidFill>
              <a:srgbClr val="F4433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371600"/>
            <a:ext cx="320040" cy="32004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800" b="1">
                <a:solidFill>
                  <a:srgbClr val="FFFFFF"/>
                </a:solidFill>
              </a:defRPr>
            </a:pPr>
            <a:r>
              <a:t>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05840" y="1371600"/>
            <a:ext cx="2286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 b="1">
                <a:solidFill>
                  <a:srgbClr val="F44336"/>
                </a:solidFill>
              </a:defRPr>
            </a:pPr>
            <a:r>
              <a:t>Calidad de Datos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05840" y="1645920"/>
            <a:ext cx="76809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>
                <a:solidFill>
                  <a:srgbClr val="212121"/>
                </a:solidFill>
              </a:defRPr>
            </a:pPr>
            <a:r>
              <a:t>EDA completo, problemas identificados y documentados</a:t>
            </a:r>
          </a:p>
        </p:txBody>
      </p:sp>
      <p:sp>
        <p:nvSpPr>
          <p:cNvPr id="8" name="Rectangle 7"/>
          <p:cNvSpPr/>
          <p:nvPr/>
        </p:nvSpPr>
        <p:spPr>
          <a:xfrm>
            <a:off x="457200" y="2148840"/>
            <a:ext cx="320040" cy="320040"/>
          </a:xfrm>
          <a:prstGeom prst="rect">
            <a:avLst/>
          </a:prstGeom>
          <a:solidFill>
            <a:srgbClr val="2196F3"/>
          </a:solidFill>
          <a:ln>
            <a:solidFill>
              <a:srgbClr val="2196F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57200" y="2148840"/>
            <a:ext cx="320040" cy="32004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800" b="1">
                <a:solidFill>
                  <a:srgbClr val="FFFFFF"/>
                </a:solidFill>
              </a:defRPr>
            </a:pPr>
            <a:r>
              <a:t>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05840" y="2148840"/>
            <a:ext cx="2286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 b="1">
                <a:solidFill>
                  <a:srgbClr val="2196F3"/>
                </a:solidFill>
              </a:defRPr>
            </a:pPr>
            <a:r>
              <a:t>Análisis Profundo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05840" y="2423160"/>
            <a:ext cx="76809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>
                <a:solidFill>
                  <a:srgbClr val="212121"/>
                </a:solidFill>
              </a:defRPr>
            </a:pPr>
            <a:r>
              <a:t>Reporte narrativo entregado con insights accionables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57200" y="2926080"/>
            <a:ext cx="320040" cy="320040"/>
          </a:xfrm>
          <a:prstGeom prst="rect">
            <a:avLst/>
          </a:prstGeom>
          <a:solidFill>
            <a:srgbClr val="4CAF50"/>
          </a:solidFill>
          <a:ln>
            <a:solidFill>
              <a:srgbClr val="4CAF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57200" y="2926080"/>
            <a:ext cx="320040" cy="32004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800" b="1">
                <a:solidFill>
                  <a:srgbClr val="FFFFFF"/>
                </a:solidFill>
              </a:defRPr>
            </a:pPr>
            <a:r>
              <a:t>3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05840" y="2926080"/>
            <a:ext cx="2286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 b="1">
                <a:solidFill>
                  <a:srgbClr val="4CAF50"/>
                </a:solidFill>
              </a:defRPr>
            </a:pPr>
            <a:r>
              <a:t>Implementación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05840" y="3200400"/>
            <a:ext cx="76809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>
                <a:solidFill>
                  <a:srgbClr val="212121"/>
                </a:solidFill>
              </a:defRPr>
            </a:pPr>
            <a:r>
              <a:t>Scripts en R implementados, mejoras desplegadas en filiales</a:t>
            </a:r>
          </a:p>
        </p:txBody>
      </p:sp>
      <p:sp>
        <p:nvSpPr>
          <p:cNvPr id="16" name="Rectangle 15"/>
          <p:cNvSpPr/>
          <p:nvPr/>
        </p:nvSpPr>
        <p:spPr>
          <a:xfrm>
            <a:off x="457200" y="3703320"/>
            <a:ext cx="320040" cy="320040"/>
          </a:xfrm>
          <a:prstGeom prst="rect">
            <a:avLst/>
          </a:prstGeom>
          <a:solidFill>
            <a:srgbClr val="9C27B0"/>
          </a:solidFill>
          <a:ln>
            <a:solidFill>
              <a:srgbClr val="9C27B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57200" y="3703320"/>
            <a:ext cx="320040" cy="32004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800" b="1">
                <a:solidFill>
                  <a:srgbClr val="FFFFFF"/>
                </a:solidFill>
              </a:defRPr>
            </a:pPr>
            <a:r>
              <a:t>4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05840" y="3703320"/>
            <a:ext cx="2286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 b="1">
                <a:solidFill>
                  <a:srgbClr val="9C27B0"/>
                </a:solidFill>
              </a:defRPr>
            </a:pPr>
            <a:r>
              <a:t>Recuperación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05840" y="3977639"/>
            <a:ext cx="76809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>
                <a:solidFill>
                  <a:srgbClr val="212121"/>
                </a:solidFill>
              </a:defRPr>
            </a:pPr>
            <a:r>
              <a:t>Incremento verificable en ventas y métricas operativas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